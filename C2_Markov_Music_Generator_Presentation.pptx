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394" autoAdjust="0"/>
  </p:normalViewPr>
  <p:slideViewPr>
    <p:cSldViewPr snapToGrid="0">
      <p:cViewPr varScale="1">
        <p:scale>
          <a:sx n="91" d="100"/>
          <a:sy n="91" d="100"/>
        </p:scale>
        <p:origin x="322" y="62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rison WItt" userId="b4c18963846f074d" providerId="LiveId" clId="{A45D67B2-1A05-4952-8B93-616413983EC4}"/>
    <pc:docChg chg="custSel modSld">
      <pc:chgData name="Harrison WItt" userId="b4c18963846f074d" providerId="LiveId" clId="{A45D67B2-1A05-4952-8B93-616413983EC4}" dt="2025-11-11T01:55:17.269" v="128" actId="1076"/>
      <pc:docMkLst>
        <pc:docMk/>
      </pc:docMkLst>
      <pc:sldChg chg="modSp mod modClrScheme chgLayout">
        <pc:chgData name="Harrison WItt" userId="b4c18963846f074d" providerId="LiveId" clId="{A45D67B2-1A05-4952-8B93-616413983EC4}" dt="2025-11-11T01:53:14.589" v="82" actId="1076"/>
        <pc:sldMkLst>
          <pc:docMk/>
          <pc:sldMk cId="0" sldId="256"/>
        </pc:sldMkLst>
        <pc:spChg chg="mod ord">
          <ac:chgData name="Harrison WItt" userId="b4c18963846f074d" providerId="LiveId" clId="{A45D67B2-1A05-4952-8B93-616413983EC4}" dt="2025-11-11T01:52:32.689" v="18" actId="1076"/>
          <ac:spMkLst>
            <pc:docMk/>
            <pc:sldMk cId="0" sldId="256"/>
            <ac:spMk id="2" creationId="{00000000-0000-0000-0000-000000000000}"/>
          </ac:spMkLst>
        </pc:spChg>
        <pc:spChg chg="mod ord">
          <ac:chgData name="Harrison WItt" userId="b4c18963846f074d" providerId="LiveId" clId="{A45D67B2-1A05-4952-8B93-616413983EC4}" dt="2025-11-11T01:53:14.589" v="82" actId="1076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Harrison WItt" userId="b4c18963846f074d" providerId="LiveId" clId="{A45D67B2-1A05-4952-8B93-616413983EC4}" dt="2025-11-11T01:53:33.213" v="106" actId="20577"/>
        <pc:sldMkLst>
          <pc:docMk/>
          <pc:sldMk cId="0" sldId="257"/>
        </pc:sldMkLst>
        <pc:spChg chg="mod">
          <ac:chgData name="Harrison WItt" userId="b4c18963846f074d" providerId="LiveId" clId="{A45D67B2-1A05-4952-8B93-616413983EC4}" dt="2025-11-11T01:53:33.213" v="106" actId="20577"/>
          <ac:spMkLst>
            <pc:docMk/>
            <pc:sldMk cId="0" sldId="257"/>
            <ac:spMk id="2" creationId="{00000000-0000-0000-0000-000000000000}"/>
          </ac:spMkLst>
        </pc:spChg>
      </pc:sldChg>
      <pc:sldChg chg="modSp mod">
        <pc:chgData name="Harrison WItt" userId="b4c18963846f074d" providerId="LiveId" clId="{A45D67B2-1A05-4952-8B93-616413983EC4}" dt="2025-11-11T01:53:41.506" v="109" actId="20577"/>
        <pc:sldMkLst>
          <pc:docMk/>
          <pc:sldMk cId="0" sldId="258"/>
        </pc:sldMkLst>
        <pc:spChg chg="mod">
          <ac:chgData name="Harrison WItt" userId="b4c18963846f074d" providerId="LiveId" clId="{A45D67B2-1A05-4952-8B93-616413983EC4}" dt="2025-11-11T01:53:41.506" v="109" actId="20577"/>
          <ac:spMkLst>
            <pc:docMk/>
            <pc:sldMk cId="0" sldId="258"/>
            <ac:spMk id="2" creationId="{00000000-0000-0000-0000-000000000000}"/>
          </ac:spMkLst>
        </pc:spChg>
      </pc:sldChg>
      <pc:sldChg chg="delSp modSp mod">
        <pc:chgData name="Harrison WItt" userId="b4c18963846f074d" providerId="LiveId" clId="{A45D67B2-1A05-4952-8B93-616413983EC4}" dt="2025-11-11T01:54:19.705" v="119" actId="20577"/>
        <pc:sldMkLst>
          <pc:docMk/>
          <pc:sldMk cId="0" sldId="259"/>
        </pc:sldMkLst>
        <pc:spChg chg="mod">
          <ac:chgData name="Harrison WItt" userId="b4c18963846f074d" providerId="LiveId" clId="{A45D67B2-1A05-4952-8B93-616413983EC4}" dt="2025-11-11T01:54:19.705" v="119" actId="20577"/>
          <ac:spMkLst>
            <pc:docMk/>
            <pc:sldMk cId="0" sldId="259"/>
            <ac:spMk id="2" creationId="{00000000-0000-0000-0000-000000000000}"/>
          </ac:spMkLst>
        </pc:spChg>
        <pc:spChg chg="del">
          <ac:chgData name="Harrison WItt" userId="b4c18963846f074d" providerId="LiveId" clId="{A45D67B2-1A05-4952-8B93-616413983EC4}" dt="2025-11-11T01:54:08.843" v="111" actId="478"/>
          <ac:spMkLst>
            <pc:docMk/>
            <pc:sldMk cId="0" sldId="259"/>
            <ac:spMk id="3" creationId="{00000000-0000-0000-0000-000000000000}"/>
          </ac:spMkLst>
        </pc:spChg>
        <pc:spChg chg="mod">
          <ac:chgData name="Harrison WItt" userId="b4c18963846f074d" providerId="LiveId" clId="{A45D67B2-1A05-4952-8B93-616413983EC4}" dt="2025-11-11T01:54:13.556" v="112" actId="1076"/>
          <ac:spMkLst>
            <pc:docMk/>
            <pc:sldMk cId="0" sldId="259"/>
            <ac:spMk id="4" creationId="{00000000-0000-0000-0000-000000000000}"/>
          </ac:spMkLst>
        </pc:spChg>
      </pc:sldChg>
      <pc:sldChg chg="delSp modSp mod">
        <pc:chgData name="Harrison WItt" userId="b4c18963846f074d" providerId="LiveId" clId="{A45D67B2-1A05-4952-8B93-616413983EC4}" dt="2025-11-11T01:54:37.159" v="122" actId="1076"/>
        <pc:sldMkLst>
          <pc:docMk/>
          <pc:sldMk cId="0" sldId="260"/>
        </pc:sldMkLst>
        <pc:spChg chg="del">
          <ac:chgData name="Harrison WItt" userId="b4c18963846f074d" providerId="LiveId" clId="{A45D67B2-1A05-4952-8B93-616413983EC4}" dt="2025-11-11T01:54:33.405" v="121" actId="478"/>
          <ac:spMkLst>
            <pc:docMk/>
            <pc:sldMk cId="0" sldId="260"/>
            <ac:spMk id="3" creationId="{00000000-0000-0000-0000-000000000000}"/>
          </ac:spMkLst>
        </pc:spChg>
        <pc:spChg chg="mod">
          <ac:chgData name="Harrison WItt" userId="b4c18963846f074d" providerId="LiveId" clId="{A45D67B2-1A05-4952-8B93-616413983EC4}" dt="2025-11-11T01:54:37.159" v="122" actId="1076"/>
          <ac:spMkLst>
            <pc:docMk/>
            <pc:sldMk cId="0" sldId="260"/>
            <ac:spMk id="4" creationId="{00000000-0000-0000-0000-000000000000}"/>
          </ac:spMkLst>
        </pc:spChg>
      </pc:sldChg>
      <pc:sldChg chg="delSp modSp mod">
        <pc:chgData name="Harrison WItt" userId="b4c18963846f074d" providerId="LiveId" clId="{A45D67B2-1A05-4952-8B93-616413983EC4}" dt="2025-11-11T01:54:50.582" v="125" actId="1076"/>
        <pc:sldMkLst>
          <pc:docMk/>
          <pc:sldMk cId="0" sldId="262"/>
        </pc:sldMkLst>
        <pc:spChg chg="del">
          <ac:chgData name="Harrison WItt" userId="b4c18963846f074d" providerId="LiveId" clId="{A45D67B2-1A05-4952-8B93-616413983EC4}" dt="2025-11-11T01:54:47.751" v="124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Harrison WItt" userId="b4c18963846f074d" providerId="LiveId" clId="{A45D67B2-1A05-4952-8B93-616413983EC4}" dt="2025-11-11T01:54:50.582" v="125" actId="1076"/>
          <ac:spMkLst>
            <pc:docMk/>
            <pc:sldMk cId="0" sldId="262"/>
            <ac:spMk id="4" creationId="{00000000-0000-0000-0000-000000000000}"/>
          </ac:spMkLst>
        </pc:spChg>
      </pc:sldChg>
      <pc:sldChg chg="delSp modSp mod">
        <pc:chgData name="Harrison WItt" userId="b4c18963846f074d" providerId="LiveId" clId="{A45D67B2-1A05-4952-8B93-616413983EC4}" dt="2025-11-11T01:51:26.785" v="6" actId="1076"/>
        <pc:sldMkLst>
          <pc:docMk/>
          <pc:sldMk cId="0" sldId="264"/>
        </pc:sldMkLst>
        <pc:spChg chg="mod">
          <ac:chgData name="Harrison WItt" userId="b4c18963846f074d" providerId="LiveId" clId="{A45D67B2-1A05-4952-8B93-616413983EC4}" dt="2025-11-11T01:51:26.785" v="6" actId="1076"/>
          <ac:spMkLst>
            <pc:docMk/>
            <pc:sldMk cId="0" sldId="264"/>
            <ac:spMk id="2" creationId="{00000000-0000-0000-0000-000000000000}"/>
          </ac:spMkLst>
        </pc:spChg>
        <pc:spChg chg="del">
          <ac:chgData name="Harrison WItt" userId="b4c18963846f074d" providerId="LiveId" clId="{A45D67B2-1A05-4952-8B93-616413983EC4}" dt="2025-11-11T01:51:07.436" v="1" actId="478"/>
          <ac:spMkLst>
            <pc:docMk/>
            <pc:sldMk cId="0" sldId="264"/>
            <ac:spMk id="3" creationId="{00000000-0000-0000-0000-000000000000}"/>
          </ac:spMkLst>
        </pc:spChg>
        <pc:spChg chg="mod">
          <ac:chgData name="Harrison WItt" userId="b4c18963846f074d" providerId="LiveId" clId="{A45D67B2-1A05-4952-8B93-616413983EC4}" dt="2025-11-11T01:51:24.362" v="5" actId="1076"/>
          <ac:spMkLst>
            <pc:docMk/>
            <pc:sldMk cId="0" sldId="264"/>
            <ac:spMk id="4" creationId="{00000000-0000-0000-0000-000000000000}"/>
          </ac:spMkLst>
        </pc:spChg>
      </pc:sldChg>
      <pc:sldChg chg="delSp modSp mod">
        <pc:chgData name="Harrison WItt" userId="b4c18963846f074d" providerId="LiveId" clId="{A45D67B2-1A05-4952-8B93-616413983EC4}" dt="2025-11-11T01:55:17.269" v="128" actId="1076"/>
        <pc:sldMkLst>
          <pc:docMk/>
          <pc:sldMk cId="0" sldId="265"/>
        </pc:sldMkLst>
        <pc:spChg chg="del">
          <ac:chgData name="Harrison WItt" userId="b4c18963846f074d" providerId="LiveId" clId="{A45D67B2-1A05-4952-8B93-616413983EC4}" dt="2025-11-11T01:55:15.030" v="127" actId="478"/>
          <ac:spMkLst>
            <pc:docMk/>
            <pc:sldMk cId="0" sldId="265"/>
            <ac:spMk id="3" creationId="{00000000-0000-0000-0000-000000000000}"/>
          </ac:spMkLst>
        </pc:spChg>
        <pc:spChg chg="mod">
          <ac:chgData name="Harrison WItt" userId="b4c18963846f074d" providerId="LiveId" clId="{A45D67B2-1A05-4952-8B93-616413983EC4}" dt="2025-11-11T01:55:17.269" v="128" actId="1076"/>
          <ac:spMkLst>
            <pc:docMk/>
            <pc:sldMk cId="0" sldId="265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B96D7-F201-492C-AA50-574A730BC27F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563E-BCB2-465B-8A3C-AC86CE64F6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16CA8-7DCC-4F2C-A1EF-C632B9D3E96D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90660-4B7D-4C11-96DB-B19FFA8CA9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anchor="b">
            <a:normAutofit/>
          </a:bodyPr>
          <a:lstStyle>
            <a:lvl1pPr algn="l">
              <a:defRPr sz="4000" b="1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75" name="Text Placeholder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800"/>
            </a:lvl1pPr>
            <a:lvl2pPr marL="457200" indent="0">
              <a:lnSpc>
                <a:spcPts val="2400"/>
              </a:lnSpc>
              <a:buNone/>
              <a:defRPr sz="2000"/>
            </a:lvl2pPr>
            <a:lvl3pPr marL="914400" indent="0">
              <a:lnSpc>
                <a:spcPts val="2400"/>
              </a:lnSpc>
              <a:buNone/>
              <a:defRPr sz="2000"/>
            </a:lvl3pPr>
            <a:lvl4pPr marL="1371600" indent="0">
              <a:lnSpc>
                <a:spcPts val="2400"/>
              </a:lnSpc>
              <a:buNone/>
              <a:defRPr sz="2000"/>
            </a:lvl4pPr>
            <a:lvl5pPr marL="1828800" indent="0">
              <a:lnSpc>
                <a:spcPts val="2400"/>
              </a:lnSpc>
              <a:buNone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  <a:lvl6pPr marL="1600200">
              <a:defRPr/>
            </a:lvl6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 sz="2000"/>
            </a:lvl4pPr>
            <a:lvl5pPr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09694" y="402671"/>
            <a:ext cx="5641897" cy="1284101"/>
          </a:xfrm>
        </p:spPr>
        <p:txBody>
          <a:bodyPr/>
          <a:lstStyle/>
          <a:p>
            <a:r>
              <a:rPr dirty="0"/>
              <a:t>Markov Music Generator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109694" y="2185927"/>
            <a:ext cx="5580586" cy="4437182"/>
          </a:xfrm>
        </p:spPr>
        <p:txBody>
          <a:bodyPr>
            <a:normAutofit/>
          </a:bodyPr>
          <a:lstStyle/>
          <a:p>
            <a:r>
              <a:rPr dirty="0"/>
              <a:t>Nonparametric sequence model for chord progressions</a:t>
            </a:r>
            <a:endParaRPr lang="en-US" dirty="0"/>
          </a:p>
          <a:p>
            <a:endParaRPr dirty="0"/>
          </a:p>
          <a:p>
            <a:r>
              <a:rPr dirty="0"/>
              <a:t>Dataset: </a:t>
            </a:r>
            <a:r>
              <a:rPr dirty="0" err="1"/>
              <a:t>Chordonomicon</a:t>
            </a:r>
            <a:r>
              <a:rPr dirty="0"/>
              <a:t> (Spotify-linked chord sequences)</a:t>
            </a:r>
            <a:endParaRPr lang="en-US" dirty="0"/>
          </a:p>
          <a:p>
            <a:endParaRPr dirty="0"/>
          </a:p>
          <a:p>
            <a:r>
              <a:rPr dirty="0"/>
              <a:t>Model: Markov transition models (orders 1–3)</a:t>
            </a:r>
            <a:endParaRPr lang="en-US" dirty="0"/>
          </a:p>
          <a:p>
            <a:endParaRPr lang="en-US" dirty="0"/>
          </a:p>
          <a:p>
            <a:r>
              <a:rPr lang="en-US" i="1" dirty="0"/>
              <a:t>Eddie, Heywood, Chase, Finn, and Harrison</a:t>
            </a:r>
            <a:endParaRPr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Assignment</a:t>
            </a:r>
            <a:r>
              <a:rPr lang="en-US" dirty="0"/>
              <a:t> Expectations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dirty="0"/>
              <a:t>Model a real phenomenon nonparametrically and generate sequences</a:t>
            </a:r>
          </a:p>
          <a:p>
            <a:r>
              <a:rPr dirty="0"/>
              <a:t>Explain data collection and cleaning</a:t>
            </a:r>
          </a:p>
          <a:p>
            <a:r>
              <a:rPr dirty="0"/>
              <a:t>Describe state space &amp; transition model; justify order</a:t>
            </a:r>
          </a:p>
          <a:p>
            <a:r>
              <a:rPr dirty="0"/>
              <a:t>Generate new sequences and evaluate realism; discuss limits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Source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dirty="0"/>
              <a:t>Source: </a:t>
            </a:r>
            <a:r>
              <a:rPr dirty="0" err="1"/>
              <a:t>Chordonomicon</a:t>
            </a:r>
            <a:r>
              <a:rPr dirty="0"/>
              <a:t> — ~680k progressions across genres/artists</a:t>
            </a:r>
          </a:p>
          <a:p>
            <a:r>
              <a:rPr dirty="0"/>
              <a:t>Phenomenon: harmonic movement via chord-to-chord transitions</a:t>
            </a:r>
          </a:p>
          <a:p>
            <a:r>
              <a:rPr dirty="0"/>
              <a:t>Goal: learn artist/genre-specific transition tendencies</a:t>
            </a:r>
          </a:p>
          <a:p>
            <a:r>
              <a:rPr dirty="0"/>
              <a:t>Output: new progressions that reflect training style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Collection &amp;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3064" y="1671167"/>
            <a:ext cx="11521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1E1E1E"/>
                </a:solidFill>
                <a:latin typeface="Consolas"/>
              </a:rPr>
              <a:t># Data collection &amp; cleaning (excerpt)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import pandas as pd,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numpy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 as np, seaborn as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sns</a:t>
            </a:r>
            <a:br>
              <a:rPr dirty="0"/>
            </a:br>
            <a:r>
              <a:rPr sz="1300" dirty="0" err="1">
                <a:solidFill>
                  <a:srgbClr val="1E1E1E"/>
                </a:solidFill>
                <a:latin typeface="Consolas"/>
              </a:rPr>
              <a:t>df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 =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pd.read_csv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("hf://datasets/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ailsntua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/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Chordonomicon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/chordonomicon_v2.csv")  # may warn on mixed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dtypes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# subset by artist or genre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subset =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df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[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df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['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spotify_artist_id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'] == "0hEurMDQu99nJRq8pTxO14"]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songs = subset['chords']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# strip HTML, collapse whitespace, split into tokens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import re</a:t>
            </a:r>
            <a:br>
              <a:rPr dirty="0"/>
            </a:br>
            <a:r>
              <a:rPr sz="1300" dirty="0" err="1">
                <a:solidFill>
                  <a:srgbClr val="1E1E1E"/>
                </a:solidFill>
                <a:latin typeface="Consolas"/>
              </a:rPr>
              <a:t>cleaned_songs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 = [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re.sub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(r'&lt;[^&gt;]+&gt;', '', s).strip() for s in songs]</a:t>
            </a:r>
            <a:br>
              <a:rPr dirty="0"/>
            </a:br>
            <a:r>
              <a:rPr sz="1300" dirty="0" err="1">
                <a:solidFill>
                  <a:srgbClr val="1E1E1E"/>
                </a:solidFill>
                <a:latin typeface="Consolas"/>
              </a:rPr>
              <a:t>cleaned_songs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 = [' '.join(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s.split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()) for s in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cleaned_songs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]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songs = [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s.split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() for s in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cleaned_songs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Chord Normalization (Code)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3064" y="1667480"/>
            <a:ext cx="11521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1E1E1E"/>
                </a:solidFill>
                <a:latin typeface="Consolas"/>
              </a:rPr>
              <a:t># Normalization helpers (music21-friendly)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from music21 import harmony</a:t>
            </a:r>
            <a:br>
              <a:rPr dirty="0"/>
            </a:b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MANUAL_MAPPINGS = {'Cminmaj7': 'CmM7', 'Fsminmaj7': 'F#mM7'}</a:t>
            </a:r>
            <a:br>
              <a:rPr dirty="0"/>
            </a:b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def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normalize_chord_string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chord_str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: str) -&gt; str: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   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original_str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 =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chord_str.strip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()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    if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original_str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 in MANUAL_MAPPINGS: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        return MANUAL_MAPPINGS[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original_str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]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    s =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original_str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    # flats → hyphen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    s = (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s.replace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('Bb', 'B-').replace('Eb', 'E-').replace('Ab', 'A-')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           .replace('Db', 'D-').replace('Gb', 'G-'))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    # protect 'sus' then lower-case variants and special cases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    s =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s.replace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('SUS4','sus4').replace('SUS2','sus2').replace('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SUS','sus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')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    # map exotic spellings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    s =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s.replace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('7SUS2','7add(sus2)').replace('M7SUS2','M7add(sus2)')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    return s</a:t>
            </a:r>
            <a:br>
              <a:rPr dirty="0"/>
            </a:b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states = sorted({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normalize_chord_string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(c) for song in songs for c in song})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Space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dirty="0"/>
              <a:t>States = unique normalized chord symbols in subset</a:t>
            </a:r>
          </a:p>
          <a:p>
            <a:r>
              <a:rPr dirty="0"/>
              <a:t>Example run (classic rock): 334 unique chords across 357 songs</a:t>
            </a:r>
          </a:p>
          <a:p>
            <a:r>
              <a:rPr dirty="0"/>
              <a:t>Large but sparse transition structure; long tail of rare chords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Transition Matrix (Code)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3064" y="1681154"/>
            <a:ext cx="11521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1E1E1E"/>
                </a:solidFill>
                <a:latin typeface="Consolas"/>
              </a:rPr>
              <a:t># Transition counts and probabilities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import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numpy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 as np, pandas as pd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S =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len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(states)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transitions =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np.zeros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((S, S),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dtype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=float)  # rows: to, cols: from</a:t>
            </a:r>
            <a:br>
              <a:rPr dirty="0"/>
            </a:b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# count transitions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for song in songs: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    for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i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 in range(1,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len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(song)):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        cur =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normalize_chord_string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(song[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i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])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       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prev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 =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normalize_chord_string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(song[i-1])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       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to_i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 =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states.index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(cur);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from_j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 =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states.index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prev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)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        transitions[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to_i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,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from_j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] += 1</a:t>
            </a:r>
            <a:br>
              <a:rPr dirty="0"/>
            </a:b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# column-normalize: P(next=to |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prev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=from)</a:t>
            </a:r>
            <a:br>
              <a:rPr dirty="0"/>
            </a:br>
            <a:r>
              <a:rPr sz="1300" dirty="0" err="1">
                <a:solidFill>
                  <a:srgbClr val="1E1E1E"/>
                </a:solidFill>
                <a:latin typeface="Consolas"/>
              </a:rPr>
              <a:t>col_sums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 =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transitions.sum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(axis=0,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keepdims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=True)</a:t>
            </a:r>
            <a:br>
              <a:rPr dirty="0"/>
            </a:br>
            <a:r>
              <a:rPr sz="1300" dirty="0" err="1">
                <a:solidFill>
                  <a:srgbClr val="1E1E1E"/>
                </a:solidFill>
                <a:latin typeface="Consolas"/>
              </a:rPr>
              <a:t>transition_prob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 =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np.divide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(transitions,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col_sums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, out=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np.zeros_like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(transitions), where=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col_sums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!=0)</a:t>
            </a:r>
            <a:br>
              <a:rPr dirty="0"/>
            </a:br>
            <a:br>
              <a:rPr dirty="0"/>
            </a:br>
            <a:r>
              <a:rPr sz="1300" dirty="0" err="1">
                <a:solidFill>
                  <a:srgbClr val="1E1E1E"/>
                </a:solidFill>
                <a:latin typeface="Consolas"/>
              </a:rPr>
              <a:t>transition_matrix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 =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pd.DataFrame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transition_prob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, index=states, columns=states)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Order &amp; Rationale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Order-1: permissive; drifts among keys; avant-garde feel for pop/rock</a:t>
            </a:r>
          </a:p>
          <a:p>
            <a:r>
              <a:t>Order-2: adds context; stabilizes to key/relative minor for most genres</a:t>
            </a:r>
          </a:p>
          <a:p>
            <a:r>
              <a:t>Order-3: approaches memorization; better for jazz (frequent modulations)</a:t>
            </a:r>
          </a:p>
          <a:p>
            <a:r>
              <a:t>Tradeoff: novelty vs tonal stability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560" y="-447596"/>
            <a:ext cx="8297380" cy="1326514"/>
          </a:xfrm>
        </p:spPr>
        <p:txBody>
          <a:bodyPr/>
          <a:lstStyle/>
          <a:p>
            <a:r>
              <a:rPr dirty="0"/>
              <a:t>Generation (Code)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60" y="1143000"/>
            <a:ext cx="11521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1E1E1E"/>
                </a:solidFill>
                <a:latin typeface="Consolas"/>
              </a:rPr>
              <a:t># Sampling new progressions from Markov model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import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numpy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 as np, music21</a:t>
            </a:r>
            <a:br>
              <a:rPr dirty="0"/>
            </a:br>
            <a:r>
              <a:rPr sz="1300" dirty="0" err="1">
                <a:solidFill>
                  <a:srgbClr val="1E1E1E"/>
                </a:solidFill>
                <a:latin typeface="Consolas"/>
              </a:rPr>
              <a:t>np.random.seed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(100)</a:t>
            </a:r>
            <a:br>
              <a:rPr dirty="0"/>
            </a:br>
            <a:r>
              <a:rPr sz="1300" dirty="0" err="1">
                <a:solidFill>
                  <a:srgbClr val="1E1E1E"/>
                </a:solidFill>
                <a:latin typeface="Consolas"/>
              </a:rPr>
              <a:t>initial_state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 =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np.random.choice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(states)</a:t>
            </a:r>
            <a:br>
              <a:rPr dirty="0"/>
            </a:br>
            <a:r>
              <a:rPr sz="1300" dirty="0" err="1">
                <a:solidFill>
                  <a:srgbClr val="1E1E1E"/>
                </a:solidFill>
                <a:latin typeface="Consolas"/>
              </a:rPr>
              <a:t>idx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 =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states.index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initial_state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)</a:t>
            </a:r>
            <a:br>
              <a:rPr dirty="0"/>
            </a:br>
            <a:r>
              <a:rPr sz="1300" dirty="0" err="1">
                <a:solidFill>
                  <a:srgbClr val="1E1E1E"/>
                </a:solidFill>
                <a:latin typeface="Consolas"/>
              </a:rPr>
              <a:t>n_sim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 = 20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sequence = [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initial_state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]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for t in range(n_sim-1):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    pr =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transition_prob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[:,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idx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]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   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idx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 =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np.random.choice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len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(states), p=pr if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pr.sum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()&gt;0 else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np.ones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len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(states))/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len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(states))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   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sequence.append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(states[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idx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])</a:t>
            </a:r>
            <a:br>
              <a:rPr dirty="0"/>
            </a:b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# Optional: clean for music21 and render to MIDI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def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clean_chords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(chords):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    out = []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    for s in chords: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        s =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s.replace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('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smin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', '#min').replace('no3d', '5')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       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out.append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(s)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    return out</a:t>
            </a:r>
            <a:br>
              <a:rPr dirty="0"/>
            </a:br>
            <a:br>
              <a:rPr dirty="0"/>
            </a:br>
            <a:r>
              <a:rPr sz="1300" dirty="0" err="1">
                <a:solidFill>
                  <a:srgbClr val="1E1E1E"/>
                </a:solidFill>
                <a:latin typeface="Consolas"/>
              </a:rPr>
              <a:t>new_chorale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 =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clean_chords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([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s.split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()[-1] for s in sequence])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stream = music21.stream.Stream()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for cs in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new_chorale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: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   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ch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 = music21.harmony.ChordSymbol(cs);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ch.duration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 = music21.duration.Duration(2.0)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   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stream.append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ch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)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#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stream.write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('midi',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fp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='music.mid')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Order-2 Extension (Code)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3064" y="1692534"/>
            <a:ext cx="11521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dirty="0">
                <a:solidFill>
                  <a:srgbClr val="1E1E1E"/>
                </a:solidFill>
                <a:latin typeface="Consolas"/>
              </a:rPr>
              <a:t># Bach reference &amp; Order-2 construction (excerpt)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# Build states of bigrams for order-2: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order = 2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songs2 = []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for song in songs: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    T =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len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(song)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    entry = [' '.join(song[(t-order-1):(t-1)]) for t in range(order+1, T)]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    songs2.append(entry)</a:t>
            </a:r>
            <a:br>
              <a:rPr dirty="0"/>
            </a:b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states2 = sorted({s for song in songs2 for s in song})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S2 =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len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(states2)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tr2 =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np.zeros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((S2, S2))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for song in songs2: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    for t in range(1,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len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(song)):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       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from_s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,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to_s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 = song[t-1], song[t]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        tr2[states2.index(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to_s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), states2.index(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from_s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)] += 1</a:t>
            </a:r>
            <a:br>
              <a:rPr dirty="0"/>
            </a:br>
            <a:br>
              <a:rPr dirty="0"/>
            </a:br>
            <a:r>
              <a:rPr sz="1300" dirty="0" err="1">
                <a:solidFill>
                  <a:srgbClr val="1E1E1E"/>
                </a:solidFill>
                <a:latin typeface="Consolas"/>
              </a:rPr>
              <a:t>row_sums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 = tr2.sum(axis=1,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keepdims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=True)</a:t>
            </a:r>
            <a:br>
              <a:rPr dirty="0"/>
            </a:br>
            <a:r>
              <a:rPr sz="1300" dirty="0">
                <a:solidFill>
                  <a:srgbClr val="1E1E1E"/>
                </a:solidFill>
                <a:latin typeface="Consolas"/>
              </a:rPr>
              <a:t>tr2_pr =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np.divide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(tr2, 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row_sums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, out=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np.zeros_like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(tr2), where=</a:t>
            </a:r>
            <a:r>
              <a:rPr sz="1300" dirty="0" err="1">
                <a:solidFill>
                  <a:srgbClr val="1E1E1E"/>
                </a:solidFill>
                <a:latin typeface="Consolas"/>
              </a:rPr>
              <a:t>row_sums</a:t>
            </a:r>
            <a:r>
              <a:rPr sz="1300" dirty="0">
                <a:solidFill>
                  <a:srgbClr val="1E1E1E"/>
                </a:solidFill>
                <a:latin typeface="Consolas"/>
              </a:rPr>
              <a:t>!=0)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Observations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Generated sequences resembled training style (key centers present)</a:t>
            </a:r>
          </a:p>
          <a:p>
            <a:r>
              <a:t>Occasional surprising jumps reflect sparse tails in state space</a:t>
            </a:r>
          </a:p>
          <a:p>
            <a:r>
              <a:t>Order-2 improves coherence; jazz needs ≥ order-3 for stability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No rhythm/melody/voice-leading modeling; harmony-only</a:t>
            </a:r>
          </a:p>
          <a:p>
            <a:r>
              <a:t>Assumes Markov property; ignores long-range structure</a:t>
            </a:r>
          </a:p>
          <a:p>
            <a:r>
              <a:t>Future: higher-order chains, HMMs, or neural sequence models</a:t>
            </a:r>
          </a:p>
          <a:p>
            <a:r>
              <a:t>Integrate rhythm patterns and melodic contours; add constraints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Takeaways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Markov models capture macro harmonic tendencies efficiently</a:t>
            </a:r>
          </a:p>
          <a:p>
            <a:r>
              <a:t>Cleaning/normalization is critical for music21 compatibility</a:t>
            </a:r>
          </a:p>
          <a:p>
            <a:r>
              <a:t>Model order balances novelty vs tonal stability</a:t>
            </a:r>
          </a:p>
          <a:p>
            <a:r>
              <a:t>Usable generator for quick, style-aware progressions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8_Win32_SL_V4" id="{806921AB-1FF9-416C-A3A7-D14200787132}" vid="{8436FA26-ADF6-4DA9-8A70-95C197E774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C5040CA-20CC-43C6-BC0C-8D8696B6AF8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{310D0CB3-DF9A-4962-B6BD-FCD1D500841D}TFb05bf529-a1dc-42d5-b9d6-8a1e9569dd9caf6e7d0f_win32-c3c9796a48f5</Template>
  <TotalTime>8</TotalTime>
  <Words>1403</Words>
  <Application>Microsoft Office PowerPoint</Application>
  <PresentationFormat>Widescreen</PresentationFormat>
  <Paragraphs>51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Avenir Next LT Pro Light</vt:lpstr>
      <vt:lpstr>Calibri</vt:lpstr>
      <vt:lpstr>Consolas</vt:lpstr>
      <vt:lpstr>Posterama</vt:lpstr>
      <vt:lpstr>Custom</vt:lpstr>
      <vt:lpstr>Markov Music Generator</vt:lpstr>
      <vt:lpstr>Assignment Expectations</vt:lpstr>
      <vt:lpstr>Data Source</vt:lpstr>
      <vt:lpstr>Data Collection &amp; Cleaning</vt:lpstr>
      <vt:lpstr>Chord Normalization (Code)</vt:lpstr>
      <vt:lpstr>State Space</vt:lpstr>
      <vt:lpstr>Transition Matrix (Code)</vt:lpstr>
      <vt:lpstr>Model Order &amp; Rationale</vt:lpstr>
      <vt:lpstr>Generation (Code)</vt:lpstr>
      <vt:lpstr>Order-2 Extension (Code)</vt:lpstr>
      <vt:lpstr>Results &amp; Observations</vt:lpstr>
      <vt:lpstr>Limitations &amp; Future Work</vt:lpstr>
      <vt:lpstr>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Harrison WItt</dc:creator>
  <cp:lastModifiedBy>Harrison WItt</cp:lastModifiedBy>
  <cp:revision>1</cp:revision>
  <dcterms:created xsi:type="dcterms:W3CDTF">2025-11-11T01:06:09Z</dcterms:created>
  <dcterms:modified xsi:type="dcterms:W3CDTF">2025-11-11T01:55:21Z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